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Heebo"/>
      <p:regular r:id="rId11"/>
      <p:bold r:id="rId12"/>
    </p:embeddedFon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ebo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font" Target="fonts/Heeb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793790" y="1647468"/>
            <a:ext cx="58721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4450"/>
              <a:buFont typeface="Montserrat"/>
              <a:buNone/>
            </a:pPr>
            <a:r>
              <a:rPr b="0" i="0" lang="en-US" sz="44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Revisão Bibliográfica</a:t>
            </a:r>
            <a:endParaRPr b="0" i="0" sz="44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280987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Segurança e Inteligência em Redes 5G/6G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3541309"/>
            <a:ext cx="13042821" cy="35957"/>
          </a:xfrm>
          <a:prstGeom prst="rect">
            <a:avLst/>
          </a:prstGeom>
          <a:solidFill>
            <a:srgbClr val="DCD7E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793790" y="383238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Integrantes do Grupo:</a:t>
            </a:r>
            <a:endParaRPr b="0" i="0" sz="175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793790" y="445043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Char char="•"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Emanuel Reino</a:t>
            </a:r>
            <a:endParaRPr b="0" i="0" sz="17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793790" y="489263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Char char="•"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Fernando Emidio</a:t>
            </a:r>
            <a:endParaRPr b="0" i="0" sz="17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793790" y="53348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Char char="•"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Gustavo Wanderley</a:t>
            </a:r>
            <a:endParaRPr b="0" i="0" sz="17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793790" y="577703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Char char="•"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Pedro Almeida</a:t>
            </a:r>
            <a:endParaRPr b="0" i="0" sz="17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793790" y="621923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Char char="•"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Pedro William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793790" y="15406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ARTIGO 1</a:t>
            </a:r>
            <a:endParaRPr b="0" i="0" sz="2200" u="none" cap="none" strike="noStrike"/>
          </a:p>
        </p:txBody>
      </p:sp>
      <p:sp>
        <p:nvSpPr>
          <p:cNvPr id="55" name="Google Shape;55;p10"/>
          <p:cNvSpPr/>
          <p:nvPr/>
        </p:nvSpPr>
        <p:spPr>
          <a:xfrm>
            <a:off x="793790" y="2121813"/>
            <a:ext cx="352544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4880253" y="1540669"/>
            <a:ext cx="8963858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550"/>
              <a:buFont typeface="Montserrat"/>
              <a:buNone/>
            </a:pPr>
            <a:r>
              <a:rPr b="0" i="0" lang="en-US" sz="3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Security Requirements and Challenges of 6G Technologies</a:t>
            </a:r>
            <a:endParaRPr b="0" i="0" sz="355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793790" y="315658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Visão: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Prevê a chegada da tecnologia 6G por volta de 2030.</a:t>
            </a:r>
            <a:endParaRPr b="0" i="0" sz="17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793790" y="377463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Tecnologias-Base: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 rede será fundamentada em tecnologias disruptivas, como criptografia pós-quântica, Inteligência Artificial (IA) e Machine Learning (ML), comunicação em Terahertz (THz) e blockchain.</a:t>
            </a:r>
            <a:endParaRPr b="0" i="0" sz="17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793790" y="457973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Desafio Principal: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O processamento massivo de dados vindo de bilhões de dispositivos (IoE - Internet of Everything) e a altíssima mobilidade (suporte a 1000 km/h) criam novos riscos de segurança.</a:t>
            </a:r>
            <a:endParaRPr b="0" i="0" sz="17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793790" y="538484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Solução Proposta: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 segurança precisa ser descentralizada. O tráfego deve ser tratado de forma local e dinâmica (na borda da rede), em vez de em um núcleo central, para garantir a baixa latência e a privacidade.</a:t>
            </a:r>
            <a:endParaRPr b="0" i="0" sz="175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793790" y="618994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Novas Aplicações: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Habilita aplicações que o 5G não suporta totalmente, como enxames de drones autônomos (que exigem baixa latência e alta mobilidade) e aplicações holográficas (que exigem taxas de dados massivas).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793790" y="22314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ARTIGO 2</a:t>
            </a:r>
            <a:endParaRPr b="0" i="0" sz="220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4880253" y="2231469"/>
            <a:ext cx="8963858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550"/>
              <a:buFont typeface="Montserrat"/>
              <a:buNone/>
            </a:pPr>
            <a:r>
              <a:rPr b="0" i="0" lang="en-US" sz="3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Intelligent Zero Trust Architecture for 5G/6G Networks</a:t>
            </a:r>
            <a:endParaRPr b="0" i="0" sz="3550" u="none" cap="none" strike="noStrike"/>
          </a:p>
        </p:txBody>
      </p:sp>
      <p:sp>
        <p:nvSpPr>
          <p:cNvPr id="69" name="Google Shape;69;p11"/>
          <p:cNvSpPr/>
          <p:nvPr/>
        </p:nvSpPr>
        <p:spPr>
          <a:xfrm>
            <a:off x="793790" y="3960766"/>
            <a:ext cx="13042821" cy="35957"/>
          </a:xfrm>
          <a:prstGeom prst="rect">
            <a:avLst/>
          </a:prstGeom>
          <a:solidFill>
            <a:srgbClr val="DCD7E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793790" y="425184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Crítica ao Modelo Atual: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O modelo de "perímetro de segurança" tradicional, onde se confia em um usuário após a autenticação, é falho. O artigo define que </a:t>
            </a: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"a confiança é uma vulnerabilidade"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175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793790" y="5056942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Princípio Zero Trust (ZT):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Propõe a integração de princípios ZT: </a:t>
            </a: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"nunca confie, sempre verifique"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. Nenhum dispositivo ou usuário é confiável por padrão, e cada requisição de acesso deve ser validada individualmente.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93790" y="586204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Conceito (i-ZTA):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Apresenta a Arquitetura Zero Trust </a:t>
            </a:r>
            <a:r>
              <a:rPr b="0" i="1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Inteligente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(i-ZTA), que usa IA para automatizar a segurança.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793790" y="16530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ARTIGO 3</a:t>
            </a:r>
            <a:endParaRPr b="0" i="0" sz="2200" u="none" cap="none" strike="noStrike"/>
          </a:p>
        </p:txBody>
      </p:sp>
      <p:sp>
        <p:nvSpPr>
          <p:cNvPr id="79" name="Google Shape;79;p12"/>
          <p:cNvSpPr/>
          <p:nvPr/>
        </p:nvSpPr>
        <p:spPr>
          <a:xfrm>
            <a:off x="4880253" y="1653064"/>
            <a:ext cx="8963858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550"/>
              <a:buFont typeface="Montserrat"/>
              <a:buNone/>
            </a:pPr>
            <a:r>
              <a:rPr b="0" i="0" lang="en-US" sz="3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5G Network Slicing: A Security Overview</a:t>
            </a:r>
            <a:endParaRPr b="0" i="0" sz="3550" u="none" cap="none" strike="noStrike"/>
          </a:p>
        </p:txBody>
      </p:sp>
      <p:sp>
        <p:nvSpPr>
          <p:cNvPr id="80" name="Google Shape;80;p12"/>
          <p:cNvSpPr/>
          <p:nvPr/>
        </p:nvSpPr>
        <p:spPr>
          <a:xfrm>
            <a:off x="793790" y="3382361"/>
            <a:ext cx="13042821" cy="35957"/>
          </a:xfrm>
          <a:prstGeom prst="rect">
            <a:avLst/>
          </a:prstGeom>
          <a:solidFill>
            <a:srgbClr val="DCD7E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"/>
          <p:cNvSpPr/>
          <p:nvPr/>
        </p:nvSpPr>
        <p:spPr>
          <a:xfrm>
            <a:off x="793790" y="367343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Slicing: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O "fatiamento de rede" (Network Slicing) é a tecnologia central do 5G que permite criar múltiplas redes virtuais ("fatias") independentes e isoladas sobre uma única infraestrutura física.</a:t>
            </a:r>
            <a:endParaRPr b="0" i="0" sz="1750" u="none" cap="none" strike="noStrike"/>
          </a:p>
        </p:txBody>
      </p:sp>
      <p:sp>
        <p:nvSpPr>
          <p:cNvPr id="82" name="Google Shape;82;p12"/>
          <p:cNvSpPr/>
          <p:nvPr/>
        </p:nvSpPr>
        <p:spPr>
          <a:xfrm>
            <a:off x="793790" y="465439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Riscos Identificados:</a:t>
            </a:r>
            <a:endParaRPr b="0" i="0" sz="17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793790" y="527244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Ataques "Cross-Slice" (Entre Fatias):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Um invasor que compromete uma fatia de baixa segurança (como a de IoT) pode tentar "pular" para uma fatia crítica (como a de controle de infraestrutura) se o isolamento falhar.</a:t>
            </a:r>
            <a:endParaRPr b="0" i="0" sz="1750" u="none" cap="none" strike="noStrike"/>
          </a:p>
        </p:txBody>
      </p:sp>
      <p:sp>
        <p:nvSpPr>
          <p:cNvPr id="84" name="Google Shape;84;p12"/>
          <p:cNvSpPr/>
          <p:nvPr/>
        </p:nvSpPr>
        <p:spPr>
          <a:xfrm>
            <a:off x="793790" y="607754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Exaustão de Recursos: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Um ataque de Negação de Serviço (DoS) em uma fatia pode consumir os recursos físicos compartilhados (processamento, rádio), degradando o desempenho de todas as outras fatias.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793790" y="20016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ARTIGO 4</a:t>
            </a:r>
            <a:endParaRPr b="0" i="0" sz="2200" u="none" cap="none" strike="noStrike"/>
          </a:p>
        </p:txBody>
      </p:sp>
      <p:sp>
        <p:nvSpPr>
          <p:cNvPr id="91" name="Google Shape;91;p13"/>
          <p:cNvSpPr/>
          <p:nvPr/>
        </p:nvSpPr>
        <p:spPr>
          <a:xfrm>
            <a:off x="4880253" y="2001679"/>
            <a:ext cx="661630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550"/>
              <a:buFont typeface="Montserrat"/>
              <a:buNone/>
            </a:pPr>
            <a:r>
              <a:rPr b="0" i="0" lang="en-US" sz="3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Physical Layer Security for 6G</a:t>
            </a:r>
            <a:endParaRPr b="0" i="0" sz="3550" u="none" cap="none" strike="noStrike"/>
          </a:p>
        </p:txBody>
      </p:sp>
      <p:sp>
        <p:nvSpPr>
          <p:cNvPr id="92" name="Google Shape;92;p13"/>
          <p:cNvSpPr/>
          <p:nvPr/>
        </p:nvSpPr>
        <p:spPr>
          <a:xfrm>
            <a:off x="4880253" y="2795468"/>
            <a:ext cx="89638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Segurança Nativa Inteligente na Camada-1</a:t>
            </a:r>
            <a:endParaRPr b="0" i="0" sz="1750" u="none" cap="none" strike="noStrike"/>
          </a:p>
        </p:txBody>
      </p:sp>
      <p:sp>
        <p:nvSpPr>
          <p:cNvPr id="93" name="Google Shape;93;p13"/>
          <p:cNvSpPr/>
          <p:nvPr/>
        </p:nvSpPr>
        <p:spPr>
          <a:xfrm>
            <a:off x="793790" y="3730976"/>
            <a:ext cx="13042821" cy="35957"/>
          </a:xfrm>
          <a:prstGeom prst="rect">
            <a:avLst/>
          </a:prstGeom>
          <a:solidFill>
            <a:srgbClr val="DCD7E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93790" y="4022050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Paradigma (PLS):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Propõe a "Segurança da Camada Física" (PLS). A segurança deve ser "nativa" da Camada 1 (Física), não um "add-on" (como a criptografia) que opera em camadas superiores.</a:t>
            </a:r>
            <a:endParaRPr b="0" i="0" sz="1750" u="none" cap="none" strike="noStrike"/>
          </a:p>
        </p:txBody>
      </p:sp>
      <p:sp>
        <p:nvSpPr>
          <p:cNvPr id="95" name="Google Shape;95;p13"/>
          <p:cNvSpPr/>
          <p:nvPr/>
        </p:nvSpPr>
        <p:spPr>
          <a:xfrm>
            <a:off x="793790" y="5003006"/>
            <a:ext cx="130428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Técnica Principal (RF Fingerprinting):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 IA aprende a "impressão digital de radiofrequência" (RF Fingerprinting) de cada dispositivo. O hardware físico (chips, antenas) de um dispositivo emite um sinal com imperfeições únicas, que funcionam como uma impressão digital. A rede pode detectar instantaneamente ataques de </a:t>
            </a:r>
            <a:r>
              <a:rPr b="0" i="1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spoofing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(clonagem) ao verificar essa "impressão digital" física, bloqueando a ameaça antes que ela suba para as camadas de software.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793790" y="23645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b="0" i="0" lang="en-US" sz="220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ARTIGO 5</a:t>
            </a:r>
            <a:endParaRPr b="0" i="0" sz="220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4880253" y="2364581"/>
            <a:ext cx="8963858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3550"/>
              <a:buFont typeface="Montserrat"/>
              <a:buNone/>
            </a:pPr>
            <a:r>
              <a:rPr b="0" i="0" lang="en-US" sz="3550" u="none" cap="none" strike="noStrik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Artificial Intelligence-Enabled Intelligent 6G Networks</a:t>
            </a:r>
            <a:endParaRPr b="0" i="0" sz="35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793790" y="4093878"/>
            <a:ext cx="13042821" cy="35957"/>
          </a:xfrm>
          <a:prstGeom prst="rect">
            <a:avLst/>
          </a:prstGeom>
          <a:solidFill>
            <a:srgbClr val="DCD7E5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93790" y="438495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IA na Borda (Edge AI):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A inteligência é movida da nuvem central para a borda da rede (MEC - Multi-access Edge Computing), mais perto do usuário. Isso é essencial para aplicações de latência zero e para reduzir o tráfego de dados na rede.</a:t>
            </a:r>
            <a:endParaRPr b="0" i="0" sz="17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793790" y="536590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750"/>
              <a:buFont typeface="Heebo"/>
              <a:buNone/>
            </a:pPr>
            <a:r>
              <a:rPr b="1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Resultado:</a:t>
            </a:r>
            <a:r>
              <a:rPr b="0" i="0" lang="en-US" sz="1750" u="none" cap="none" strike="noStrike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 Uma rede cognitiva e autônoma, capaz de auto-otimização (alocação de recursos, fatiamento dinâmico) e segurança proativa em tempo real.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